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491183"/>
            <a:ext cx="994544" cy="215354"/>
          </a:xfrm>
          <a:prstGeom prst="roundRect">
            <a:avLst>
              <a:gd name="adj" fmla="val 22119"/>
            </a:avLst>
          </a:prstGeom>
          <a:solidFill>
            <a:srgbClr val="0F163E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533674"/>
            <a:ext cx="12816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PROJECT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763241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Hotel Booking Data Analysis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496119" y="319861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patterns, trends, and actionable insights from real-world hotel reservation data — powered by Python, SQL, and Power BI.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961"/>
            <a:ext cx="652835" cy="195114"/>
          </a:xfrm>
          <a:prstGeom prst="roundRect">
            <a:avLst>
              <a:gd name="adj" fmla="val 22125"/>
            </a:avLst>
          </a:prstGeom>
          <a:noFill/>
          <a:ln w="4763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3137" y="443433"/>
            <a:ext cx="955997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46584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Project Overview</a:t>
            </a:r>
            <a:endParaRPr lang="en-US" sz="2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53592"/>
            <a:ext cx="4342358" cy="24606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56671" y="2192015"/>
            <a:ext cx="349589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analyzes a comprehensive hotel booking dataset to understand guest behavior, reservation patterns, and operational performance — delivering insights that drive smarter business decisions.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264" y="4080123"/>
            <a:ext cx="192658" cy="1926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3581" y="4076179"/>
            <a:ext cx="220280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Analyze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13581" y="4346674"/>
            <a:ext cx="220280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Reservation trends and guest demographics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10012" y="4080123"/>
            <a:ext cx="192658" cy="1926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79329" y="4076179"/>
            <a:ext cx="220280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Visualize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3679329" y="4346674"/>
            <a:ext cx="220280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dashboards in Power BI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5759" y="4080123"/>
            <a:ext cx="192658" cy="1926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45076" y="4076179"/>
            <a:ext cx="220280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Recommend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445076" y="4346674"/>
            <a:ext cx="220280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strategies for hotel operators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0468"/>
            <a:ext cx="647774" cy="215354"/>
          </a:xfrm>
          <a:prstGeom prst="roundRect">
            <a:avLst>
              <a:gd name="adj" fmla="val 22119"/>
            </a:avLst>
          </a:prstGeom>
          <a:solidFill>
            <a:srgbClr val="0F163E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52958"/>
            <a:ext cx="93486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825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Dataset Description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33811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dataset contains real-world hotel reservation records spanning multiple properties, seasons, and guest segments — ideal for end-to-end analytical exploration.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022053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32K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496119" y="266700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Booking Records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97351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reservations analyzed across properties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0553" y="2022053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4660553" y="266700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Hotel Types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0553" y="297351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Resort and city hotel categories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554685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18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496119" y="4199632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Columns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4506144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 including lead time, ADR, and stays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0553" y="3554685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37%</a:t>
            </a:r>
            <a:endParaRPr lang="en-US" sz="3650" dirty="0"/>
          </a:p>
        </p:txBody>
      </p:sp>
      <p:sp>
        <p:nvSpPr>
          <p:cNvPr id="16" name="Text 14"/>
          <p:cNvSpPr/>
          <p:nvPr/>
        </p:nvSpPr>
        <p:spPr>
          <a:xfrm>
            <a:off x="4660553" y="4199632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Avg. Cancellation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60553" y="4506144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cancellation rate across bookings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7881"/>
            <a:ext cx="1047750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465088"/>
            <a:ext cx="135612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ENGINEERING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5982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 Cleaning with Python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32161"/>
            <a:ext cx="3924598" cy="2223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8046" y="2165077"/>
            <a:ext cx="3924598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data required systematic preprocessing to ensure analytical accuracy. Python and pandas were used to handle inconsistencies, missing values, and outliers before analysis.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800177"/>
            <a:ext cx="1956569" cy="9153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1530" y="3938439"/>
            <a:ext cx="162289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Duplicate Removal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91530" y="4197400"/>
            <a:ext cx="162289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Eliminated redundant booking entries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1183" y="3800177"/>
            <a:ext cx="1956569" cy="9153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56595" y="3938439"/>
            <a:ext cx="162289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Missing Value Handling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756595" y="4391248"/>
            <a:ext cx="162289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Imputed or flagged null fields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6248" y="3800177"/>
            <a:ext cx="1956569" cy="9153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21659" y="3938439"/>
            <a:ext cx="162289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Type Conversion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21659" y="4197400"/>
            <a:ext cx="162289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Standardized dates and numeric fields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1312" y="3800177"/>
            <a:ext cx="1956569" cy="91536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86724" y="3938439"/>
            <a:ext cx="162289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886724" y="4197400"/>
            <a:ext cx="162289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Flagged extreme ADR and stay values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0571"/>
            <a:ext cx="669875" cy="212006"/>
          </a:xfrm>
          <a:prstGeom prst="roundRect">
            <a:avLst>
              <a:gd name="adj" fmla="val 22117"/>
            </a:avLst>
          </a:prstGeom>
          <a:solidFill>
            <a:srgbClr val="0F163E"/>
          </a:solidFill>
          <a:ln/>
        </p:spPr>
      </p:sp>
      <p:sp>
        <p:nvSpPr>
          <p:cNvPr id="3" name="Text 1"/>
          <p:cNvSpPr/>
          <p:nvPr/>
        </p:nvSpPr>
        <p:spPr>
          <a:xfrm>
            <a:off x="579834" y="442392"/>
            <a:ext cx="959644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67494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Exploratory Data Analysis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64097"/>
            <a:ext cx="4754910" cy="31243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96161" y="1446981"/>
            <a:ext cx="305648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What the Data Reveals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96161" y="1802383"/>
            <a:ext cx="3056483" cy="1694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Peak season: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June sees the highest booking volume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Cancellation trend: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Cancellations rise proportionally with bookings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Lead time: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30–45 days before arrival</a:t>
            </a:r>
            <a:endParaRPr lang="en-US" sz="1050" dirty="0"/>
          </a:p>
          <a:p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ADR:</a:t>
            </a:r>
            <a:pPr algn="l" marL="213360" indent="-213360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Daily Rate varies significantly by hotel type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5248"/>
            <a:ext cx="871910" cy="205234"/>
          </a:xfrm>
          <a:prstGeom prst="roundRect">
            <a:avLst>
              <a:gd name="adj" fmla="val 22122"/>
            </a:avLst>
          </a:prstGeom>
          <a:noFill/>
          <a:ln w="4763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7155" y="475729"/>
            <a:ext cx="1167036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91976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SQL Analysis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52339"/>
            <a:ext cx="3486969" cy="19759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17504" y="2229148"/>
            <a:ext cx="433506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 queries were used to segment data, compute aggregates, and answer targeted business questions directly from the database.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6119" y="3718024"/>
            <a:ext cx="2631430" cy="990228"/>
          </a:xfrm>
          <a:prstGeom prst="roundRect">
            <a:avLst>
              <a:gd name="adj" fmla="val 573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943" y="3857848"/>
            <a:ext cx="235178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5943" y="4146203"/>
            <a:ext cx="235178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Grouped by market segment, customer type, and distribution channel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6285" y="3718024"/>
            <a:ext cx="2631430" cy="990228"/>
          </a:xfrm>
          <a:prstGeom prst="roundRect">
            <a:avLst>
              <a:gd name="adj" fmla="val 573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96109" y="3857848"/>
            <a:ext cx="235178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96109" y="4146203"/>
            <a:ext cx="235178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Computed ADR, stay duration, and cancellation rates by property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16451" y="3718024"/>
            <a:ext cx="2631430" cy="990228"/>
          </a:xfrm>
          <a:prstGeom prst="roundRect">
            <a:avLst>
              <a:gd name="adj" fmla="val 573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6275" y="3857848"/>
            <a:ext cx="235178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Filtering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56275" y="4146203"/>
            <a:ext cx="235178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Isolated high-value guests and repeat booking patterns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6003"/>
            <a:ext cx="864691" cy="191839"/>
          </a:xfrm>
          <a:prstGeom prst="roundRect">
            <a:avLst>
              <a:gd name="adj" fmla="val 22114"/>
            </a:avLst>
          </a:prstGeom>
          <a:solidFill>
            <a:srgbClr val="0F163E"/>
          </a:solidFill>
          <a:ln/>
        </p:spPr>
      </p:sp>
      <p:sp>
        <p:nvSpPr>
          <p:cNvPr id="3" name="Text 1"/>
          <p:cNvSpPr/>
          <p:nvPr/>
        </p:nvSpPr>
        <p:spPr>
          <a:xfrm>
            <a:off x="571872" y="443880"/>
            <a:ext cx="11703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42789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Power BI Dashboard</a:t>
            </a:r>
            <a:endParaRPr lang="en-US" sz="2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32458"/>
            <a:ext cx="4344814" cy="24619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53769" y="2276996"/>
            <a:ext cx="3498800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interactive Power BI dashboard was built to surface key metrics at a glance — enabling stakeholders to explore data dynamically without technical expertise.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47455"/>
            <a:ext cx="252487" cy="2524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9099" y="4090839"/>
            <a:ext cx="223056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89099" y="4355529"/>
            <a:ext cx="223056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bookings, ADR, occupancy, and cancellation rate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0154" y="4047455"/>
            <a:ext cx="252487" cy="2524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3135" y="4090839"/>
            <a:ext cx="223063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Interactive Filters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653135" y="4355529"/>
            <a:ext cx="223063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Slice by hotel, month, market segment, and guest type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4265" y="4047455"/>
            <a:ext cx="252487" cy="2524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17246" y="4090839"/>
            <a:ext cx="223063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Geographic View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17246" y="4355529"/>
            <a:ext cx="223063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Guest origin countries and booking distribution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22151"/>
            <a:ext cx="481905" cy="154707"/>
          </a:xfrm>
          <a:prstGeom prst="roundRect">
            <a:avLst>
              <a:gd name="adj" fmla="val 22130"/>
            </a:avLst>
          </a:prstGeom>
          <a:noFill/>
          <a:ln w="4763">
            <a:solidFill>
              <a:srgbClr val="5A6ED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57213" y="452661"/>
            <a:ext cx="816918" cy="93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INSIGHTS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96119" y="606103"/>
            <a:ext cx="4722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Insights</a:t>
            </a:r>
            <a:endParaRPr lang="en-US" sz="2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34281"/>
            <a:ext cx="4722763" cy="8668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96369" y="1110704"/>
            <a:ext cx="122262" cy="152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12279" y="1441772"/>
            <a:ext cx="449044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Summer Dominance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12279" y="1644923"/>
            <a:ext cx="449044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June–August accounts for over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35%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annual bookings, with peak ADR in July.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74354"/>
            <a:ext cx="4722763" cy="8668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96369" y="2050777"/>
            <a:ext cx="122262" cy="152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12279" y="2381845"/>
            <a:ext cx="449044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Cancellation Risk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612279" y="2584996"/>
            <a:ext cx="449044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Bookings made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60+ days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advance have a 50% higher cancellation rate than last-minute stays.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914427"/>
            <a:ext cx="4722763" cy="86684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96369" y="2990850"/>
            <a:ext cx="122262" cy="152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612279" y="3321918"/>
            <a:ext cx="449044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Segment Value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612279" y="3525069"/>
            <a:ext cx="449044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Corporate and loyal guests show the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lowest cancellation rates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highest ADR contribution.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854500"/>
            <a:ext cx="4722763" cy="86684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796369" y="3930923"/>
            <a:ext cx="122262" cy="152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612279" y="4261991"/>
            <a:ext cx="449044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Channel Efficiency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612279" y="4465141"/>
            <a:ext cx="449044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bookings yield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higher ADR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lower cancellations versus OTA channels.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8802"/>
            <a:ext cx="606549" cy="181719"/>
          </a:xfrm>
          <a:prstGeom prst="roundRect">
            <a:avLst>
              <a:gd name="adj" fmla="val 22117"/>
            </a:avLst>
          </a:prstGeom>
          <a:solidFill>
            <a:srgbClr val="0F163E"/>
          </a:solidFill>
          <a:ln/>
        </p:spPr>
      </p:sp>
      <p:sp>
        <p:nvSpPr>
          <p:cNvPr id="3" name="Text 1"/>
          <p:cNvSpPr/>
          <p:nvPr/>
        </p:nvSpPr>
        <p:spPr>
          <a:xfrm>
            <a:off x="567854" y="454670"/>
            <a:ext cx="920279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40854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Business Recommendations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71092"/>
            <a:ext cx="3085579" cy="174843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78312" y="1279475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23147" y="1301911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48299" y="1320552"/>
            <a:ext cx="44042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Incentivize Direct Bookings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248299" y="1608311"/>
            <a:ext cx="44042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loyalty perks and best-rate guarantees to shift demand from OTAs to direct channels.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78312" y="2162845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23147" y="2185281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48299" y="2203921"/>
            <a:ext cx="44042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Dynamic Cancellation Policies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248299" y="2491680"/>
            <a:ext cx="44042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stricter non-refundable terms for long lead-time bookings to reduce revenue leakage.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78312" y="3046214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23147" y="3068650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48299" y="3087291"/>
            <a:ext cx="44042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Targeted Corporate Packages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248299" y="3375050"/>
            <a:ext cx="44042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tailored packages for corporate and repeat guests — the highest-value segments.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878312" y="3929583"/>
            <a:ext cx="269081" cy="269081"/>
          </a:xfrm>
          <a:prstGeom prst="roundRect">
            <a:avLst>
              <a:gd name="adj" fmla="val 18671"/>
            </a:avLst>
          </a:prstGeom>
          <a:solidFill>
            <a:srgbClr val="182567"/>
          </a:solidFill>
          <a:ln w="4763">
            <a:solidFill>
              <a:srgbClr val="313E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23147" y="3952019"/>
            <a:ext cx="179412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248299" y="3970660"/>
            <a:ext cx="440427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Pre-Arrival Engagement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248299" y="4258419"/>
            <a:ext cx="44042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automated reminders and deposit requests 30 days before arrival to reduce no-shows.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7898"/>
            <a:ext cx="690637" cy="178371"/>
          </a:xfrm>
          <a:prstGeom prst="roundRect">
            <a:avLst>
              <a:gd name="adj" fmla="val 22115"/>
            </a:avLst>
          </a:prstGeom>
          <a:noFill/>
          <a:ln w="4763">
            <a:solidFill>
              <a:srgbClr val="5A6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514" y="483096"/>
            <a:ext cx="1007046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STACK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65113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Technologies Used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77751"/>
            <a:ext cx="1528986" cy="1528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828255"/>
            <a:ext cx="263619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Python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6119" y="3069952"/>
            <a:ext cx="263619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Pandas, NumPy, and Matplotlib for data cleaning, transformation, and exploratory analysis.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829" y="1177751"/>
            <a:ext cx="1528986" cy="15289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53829" y="2828255"/>
            <a:ext cx="263626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SQL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253829" y="3069952"/>
            <a:ext cx="263626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for structured querying, segmentation, aggregation, and business question answering.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614" y="1177751"/>
            <a:ext cx="1528986" cy="152898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11614" y="2828255"/>
            <a:ext cx="263626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011614" y="3069952"/>
            <a:ext cx="263626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dashboards, KPI cards, and dynamic filters for stakeholder-facing reporting.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96119" y="3551932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CFD0D8">
              <a:alpha val="5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496119" y="3741316"/>
            <a:ext cx="8151763" cy="29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96119" y="4180508"/>
            <a:ext cx="815176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demonstrates how a modern analytics stack —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Python, SQL, and Power BI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transforms raw hotel booking data into strategic business intelligence. From data cleaning to dashboard delivery, every step was designed to produce 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actionable, decision-ready insights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hotel operators and hospitality executives.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2026-07-30T16:59:50Z</dcterms:created>
  <dcterms:modified xsi:type="dcterms:W3CDTF">2026-07-30T16:59:50Z</dcterms:modified>
</cp:coreProperties>
</file>